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014" autoAdjust="0"/>
    <p:restoredTop sz="94660"/>
  </p:normalViewPr>
  <p:slideViewPr>
    <p:cSldViewPr snapToGrid="0" showGuides="1">
      <p:cViewPr>
        <p:scale>
          <a:sx n="150" d="100"/>
          <a:sy n="150" d="100"/>
        </p:scale>
        <p:origin x="546" y="22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3E2242E-220E-25A1-432C-93391B7D02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BB46949C-CACB-8405-A4C8-E9EFCCA7C32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F7C574F-228A-1C36-B4CF-5CBB8D7573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25130D-9920-4464-A7B9-004B5E246D62}" type="datetimeFigureOut">
              <a:rPr lang="ru-RU" smtClean="0"/>
              <a:t>08.03.2026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04892D7-2F4D-E0CA-7ACB-C7195A6A92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F7A9FB1-1AC1-DB5F-F1AD-866486F08A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0E06D0-9895-4F4E-9D3D-5CA4C23D4D2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137254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5545A4A-DC4B-7BFC-F2C6-19DE787947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E7D6648-C4A7-4CF1-007C-FF999FCBA7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D99D61C-FE3E-AB13-EAC6-C6F7656D7C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25130D-9920-4464-A7B9-004B5E246D62}" type="datetimeFigureOut">
              <a:rPr lang="ru-RU" smtClean="0"/>
              <a:t>08.03.2026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1A4EC4F-995C-40B0-71B3-B5D40C228F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F0A8CB1-C0EF-9A3F-2F46-BD3737A3DB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0E06D0-9895-4F4E-9D3D-5CA4C23D4D2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979404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E0CD7AB-5DAC-EE20-7DC8-89CBD58C7E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DCCAFDD7-ABF5-4AA3-7F95-504458DF5E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F1BAA26-509F-8DBE-C7E3-DC10E3AB0E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25130D-9920-4464-A7B9-004B5E246D62}" type="datetimeFigureOut">
              <a:rPr lang="ru-RU" smtClean="0"/>
              <a:t>08.03.2026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2FFCD4D-8AD3-D406-F7CA-94EF119688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A0F2F38-C8E4-5BBE-9CE3-61A3084E52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0E06D0-9895-4F4E-9D3D-5CA4C23D4D2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301967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ACF1ACC-2CC0-935B-48BF-861DBC86F0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8DAD300-33FF-B9D0-DD2C-D6FC633DABC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1F4FEE55-92AC-8D52-AFD7-5C4A4904F5C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C416C31A-67D5-4AA1-4F47-54444E26B9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25130D-9920-4464-A7B9-004B5E246D62}" type="datetimeFigureOut">
              <a:rPr lang="ru-RU" smtClean="0"/>
              <a:t>08.03.2026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B2A3B9B7-817C-F4B4-71B2-37D642037A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284F0D41-E975-3E23-A219-84268679E4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0E06D0-9895-4F4E-9D3D-5CA4C23D4D2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20458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8159982-7A9F-90D4-E1B4-8B747BC46E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F607FC0C-DF6A-D053-AF9A-FCB370DFA96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7B743E55-6E0C-ED96-D5BD-63D959B1BEA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D399C915-F0BB-D65F-2178-2510D688389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CC5D8BC5-5472-148D-4D2C-46A819069F0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95EF83F7-DE04-A8C6-DE66-E20FE4CFB2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25130D-9920-4464-A7B9-004B5E246D62}" type="datetimeFigureOut">
              <a:rPr lang="ru-RU" smtClean="0"/>
              <a:t>08.03.2026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56F5D7C2-6208-5BE3-0ED5-87F8321203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80A8BE84-13DC-D876-7756-E83491F565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0E06D0-9895-4F4E-9D3D-5CA4C23D4D2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824769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A14EC82-4783-38AD-BCB3-9768BC1FCB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AFE88B74-88DF-8CD6-F8C2-54E4EA6F40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25130D-9920-4464-A7B9-004B5E246D62}" type="datetimeFigureOut">
              <a:rPr lang="ru-RU" smtClean="0"/>
              <a:t>08.03.2026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620C2011-34B3-B3B3-23AE-25480A1826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04FB16E9-80B6-B82A-D655-9925DB08CE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0E06D0-9895-4F4E-9D3D-5CA4C23D4D2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590933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83D2C92D-5F0F-CF39-4EC2-DC0CA7E366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25130D-9920-4464-A7B9-004B5E246D62}" type="datetimeFigureOut">
              <a:rPr lang="ru-RU" smtClean="0"/>
              <a:t>08.03.2026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96AC4A77-B7B0-DA9C-589F-AFE88BFDD3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F1639D0C-B240-5159-93CF-B7358C7C8E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0E06D0-9895-4F4E-9D3D-5CA4C23D4D2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118709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0496F2F-16CD-4C2E-9EB0-8621587702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B01C0E5-42FE-F177-65CD-9372A91CB5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5D42B2B7-2972-C687-E8CD-B6AC6C0AD06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95D06BBD-F7D2-8503-E2D3-3B4EABFE2A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25130D-9920-4464-A7B9-004B5E246D62}" type="datetimeFigureOut">
              <a:rPr lang="ru-RU" smtClean="0"/>
              <a:t>08.03.2026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9128749E-9685-9DEC-E98F-5115B67742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96E2BFB0-78A3-380B-F76C-B7AAB6143E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0E06D0-9895-4F4E-9D3D-5CA4C23D4D2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064385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6068900-37EE-D0F6-C252-EE7137570B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12629AC3-DCDA-3EE5-E8FC-F2D7F769E45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634DD40E-0E87-227C-A0DD-970C98DFF11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E8B82288-83AC-672E-D6E0-B3CF4AB47A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25130D-9920-4464-A7B9-004B5E246D62}" type="datetimeFigureOut">
              <a:rPr lang="ru-RU" smtClean="0"/>
              <a:t>08.03.2026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0743B501-AC02-4463-37CB-9199727D98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7D1A9F46-EEBA-16EA-4429-99B920655D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0E06D0-9895-4F4E-9D3D-5CA4C23D4D2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478595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6704E6A-D39C-CFBA-1012-2833FED9A3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5230768A-972E-7B61-D1D2-18F68C1CC5B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253EF3A2-8B4B-1F08-70BA-2AC88594BF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25130D-9920-4464-A7B9-004B5E246D62}" type="datetimeFigureOut">
              <a:rPr lang="ru-RU" smtClean="0"/>
              <a:t>08.03.2026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6FB8174-E47A-EB0F-C46F-F4E55354B3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038D907-A41B-D91F-216D-64C03AB903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0E06D0-9895-4F4E-9D3D-5CA4C23D4D2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067202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0F9342FD-FA12-EBEE-07EC-2A4C9AD38A2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9C83BBFE-CE8B-2E8F-68E9-FD8526C9DEC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7198DE3-3623-26DB-5743-CA8FE29E4F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25130D-9920-4464-A7B9-004B5E246D62}" type="datetimeFigureOut">
              <a:rPr lang="ru-RU" smtClean="0"/>
              <a:t>08.03.2026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61B33DE-4D78-A682-1CFF-82129AA8DE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030C7C8-47BE-81A2-99C2-EA58664477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0E06D0-9895-4F4E-9D3D-5CA4C23D4D2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623907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563FF9D-D8CD-CD10-1DE5-2D6E37F1CE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8D43566C-FD62-60E7-549A-EBCDE8DEEF5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EEEC224-D3F4-805F-BAF0-10D5E097547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A25130D-9920-4464-A7B9-004B5E246D62}" type="datetimeFigureOut">
              <a:rPr lang="ru-RU" smtClean="0"/>
              <a:t>08.03.2026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21E5E99-B845-D38C-04EA-07F822BEC09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3C90F8C-CED5-C5D2-8669-E68292AB857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50E06D0-9895-4F4E-9D3D-5CA4C23D4D2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092120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jpe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B85F540-483A-44FA-C1BC-C41F5BE9686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/>
              <a:t>Моделирование пучка в ускорителе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3DD448A1-8FD4-4DBF-7F6B-C539DE6745F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r"/>
            <a:r>
              <a:rPr lang="ru-RU" dirty="0"/>
              <a:t>Команда «Общество ускорения»</a:t>
            </a:r>
          </a:p>
        </p:txBody>
      </p:sp>
    </p:spTree>
    <p:extLst>
      <p:ext uri="{BB962C8B-B14F-4D97-AF65-F5344CB8AC3E}">
        <p14:creationId xmlns:p14="http://schemas.microsoft.com/office/powerpoint/2010/main" val="36805947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7CCEF36-1049-03ED-A89F-E22BC99235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5036" y="322350"/>
            <a:ext cx="9565083" cy="1325563"/>
          </a:xfrm>
        </p:spPr>
        <p:txBody>
          <a:bodyPr/>
          <a:lstStyle/>
          <a:p>
            <a:r>
              <a:rPr lang="ru-RU" dirty="0"/>
              <a:t>Что нужно было сделать с пучком?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A16A1E5-1608-2B3D-DD51-5178FC89E0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E9A1F712-78F1-2353-6CB7-CC3425CD6B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64867" y="1825625"/>
            <a:ext cx="6424602" cy="1852098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D90D8403-D3CF-AE6E-CEE4-491FA0F4B8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5036" y="2846942"/>
            <a:ext cx="4584162" cy="2389321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A3E283BB-F0F2-C7E4-9D82-8133BEC5103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89411" y="4028075"/>
            <a:ext cx="6199681" cy="1798535"/>
          </a:xfrm>
          <a:prstGeom prst="rect">
            <a:avLst/>
          </a:prstGeom>
        </p:spPr>
      </p:pic>
      <p:pic>
        <p:nvPicPr>
          <p:cNvPr id="24" name="Рисунок 23">
            <a:extLst>
              <a:ext uri="{FF2B5EF4-FFF2-40B4-BE49-F238E27FC236}">
                <a16:creationId xmlns:a16="http://schemas.microsoft.com/office/drawing/2014/main" id="{7D4F84A8-E6F6-A26D-D1DB-FD45A315320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98845" y="5332024"/>
            <a:ext cx="3023628" cy="10226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88231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427638E-9DA3-6931-9780-5F679090EB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Условная конструкция инжектора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D4CE51A-BC99-4E62-F097-B187EE6F13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46575B4F-8659-45EE-A864-B3B5935A372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313" y="1443843"/>
            <a:ext cx="3921622" cy="2795476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F0C24078-27C7-7832-606F-BDB20DB9D1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7050" y="4306787"/>
            <a:ext cx="4118149" cy="2041324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774DE6B9-CB5C-8E23-B75C-30F7607FE3A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63242" y="1654477"/>
            <a:ext cx="5244649" cy="38760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55811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21D9269-4B48-55DA-F7D8-74F952DB2C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Аналитический поиск матрицы перехода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92A55DD-737E-531B-7CB5-3BA38BBE61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6A5B50E4-8269-C9A3-3739-1E0BF1C4AA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03416" y="2718487"/>
            <a:ext cx="3110761" cy="1532451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EBE326AF-37D0-A209-1B7D-8D7037391E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80788" y="2471872"/>
            <a:ext cx="3830423" cy="2372773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0AB42333-64F1-2428-A65F-DAA39A38DF2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741" y="2218038"/>
            <a:ext cx="3783025" cy="2991334"/>
          </a:xfrm>
          <a:prstGeom prst="rect">
            <a:avLst/>
          </a:prstGeom>
        </p:spPr>
      </p:pic>
      <p:cxnSp>
        <p:nvCxnSpPr>
          <p:cNvPr id="9" name="Прямая со стрелкой 8">
            <a:extLst>
              <a:ext uri="{FF2B5EF4-FFF2-40B4-BE49-F238E27FC236}">
                <a16:creationId xmlns:a16="http://schemas.microsoft.com/office/drawing/2014/main" id="{22ADEC7B-1A3B-E76F-DC9F-6C71F447F679}"/>
              </a:ext>
            </a:extLst>
          </p:cNvPr>
          <p:cNvCxnSpPr/>
          <p:nvPr/>
        </p:nvCxnSpPr>
        <p:spPr>
          <a:xfrm>
            <a:off x="3583459" y="3657600"/>
            <a:ext cx="494271" cy="0"/>
          </a:xfrm>
          <a:prstGeom prst="straightConnector1">
            <a:avLst/>
          </a:prstGeom>
          <a:ln w="762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Прямая со стрелкой 9">
            <a:extLst>
              <a:ext uri="{FF2B5EF4-FFF2-40B4-BE49-F238E27FC236}">
                <a16:creationId xmlns:a16="http://schemas.microsoft.com/office/drawing/2014/main" id="{B51ED452-36D3-76EE-ECC1-621457ACDDD2}"/>
              </a:ext>
            </a:extLst>
          </p:cNvPr>
          <p:cNvCxnSpPr/>
          <p:nvPr/>
        </p:nvCxnSpPr>
        <p:spPr>
          <a:xfrm>
            <a:off x="8134865" y="3599936"/>
            <a:ext cx="494271" cy="0"/>
          </a:xfrm>
          <a:prstGeom prst="straightConnector1">
            <a:avLst/>
          </a:prstGeom>
          <a:ln w="762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Прямая со стрелкой 10">
            <a:extLst>
              <a:ext uri="{FF2B5EF4-FFF2-40B4-BE49-F238E27FC236}">
                <a16:creationId xmlns:a16="http://schemas.microsoft.com/office/drawing/2014/main" id="{76852C99-C613-83C7-BDBB-F705ADF89BEC}"/>
              </a:ext>
            </a:extLst>
          </p:cNvPr>
          <p:cNvCxnSpPr>
            <a:cxnSpLocks/>
          </p:cNvCxnSpPr>
          <p:nvPr/>
        </p:nvCxnSpPr>
        <p:spPr>
          <a:xfrm>
            <a:off x="10011660" y="4359876"/>
            <a:ext cx="0" cy="440724"/>
          </a:xfrm>
          <a:prstGeom prst="straightConnector1">
            <a:avLst/>
          </a:prstGeom>
          <a:ln w="762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4205977F-9C36-63FA-BA90-4324C5DDE31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42794" y="4909538"/>
            <a:ext cx="2937731" cy="811311"/>
          </a:xfrm>
          <a:prstGeom prst="rect">
            <a:avLst/>
          </a:prstGeom>
        </p:spPr>
      </p:pic>
      <p:cxnSp>
        <p:nvCxnSpPr>
          <p:cNvPr id="17" name="Прямая соединительная линия 16">
            <a:extLst>
              <a:ext uri="{FF2B5EF4-FFF2-40B4-BE49-F238E27FC236}">
                <a16:creationId xmlns:a16="http://schemas.microsoft.com/office/drawing/2014/main" id="{04BFBA04-B021-0181-297D-E187B011AB53}"/>
              </a:ext>
            </a:extLst>
          </p:cNvPr>
          <p:cNvCxnSpPr>
            <a:cxnSpLocks/>
          </p:cNvCxnSpPr>
          <p:nvPr/>
        </p:nvCxnSpPr>
        <p:spPr>
          <a:xfrm flipV="1">
            <a:off x="9168714" y="4800600"/>
            <a:ext cx="1637270" cy="1136822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8" name="Прямая соединительная линия 17">
            <a:extLst>
              <a:ext uri="{FF2B5EF4-FFF2-40B4-BE49-F238E27FC236}">
                <a16:creationId xmlns:a16="http://schemas.microsoft.com/office/drawing/2014/main" id="{695FC02B-2868-2F84-167C-DB561A790397}"/>
              </a:ext>
            </a:extLst>
          </p:cNvPr>
          <p:cNvCxnSpPr>
            <a:cxnSpLocks/>
          </p:cNvCxnSpPr>
          <p:nvPr/>
        </p:nvCxnSpPr>
        <p:spPr>
          <a:xfrm flipH="1" flipV="1">
            <a:off x="9255211" y="4909538"/>
            <a:ext cx="1354884" cy="981184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pic>
        <p:nvPicPr>
          <p:cNvPr id="1026" name="Picture 2" descr="Грустный смайлик» — картинка создана в Шедевруме">
            <a:extLst>
              <a:ext uri="{FF2B5EF4-FFF2-40B4-BE49-F238E27FC236}">
                <a16:creationId xmlns:a16="http://schemas.microsoft.com/office/drawing/2014/main" id="{3D1DC456-5404-0B73-AA27-01D5309F47E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48716" y="5708352"/>
            <a:ext cx="975498" cy="9754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" name="Рисунок 22">
            <a:extLst>
              <a:ext uri="{FF2B5EF4-FFF2-40B4-BE49-F238E27FC236}">
                <a16:creationId xmlns:a16="http://schemas.microsoft.com/office/drawing/2014/main" id="{1DCB3406-5B79-C9D7-DD31-C147E2CCEE6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47321" y="2218038"/>
            <a:ext cx="2310757" cy="2357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22801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Рисунок 29">
            <a:extLst>
              <a:ext uri="{FF2B5EF4-FFF2-40B4-BE49-F238E27FC236}">
                <a16:creationId xmlns:a16="http://schemas.microsoft.com/office/drawing/2014/main" id="{1FD83AD8-5AEF-8C14-B40E-9A055EE906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26815" y="3764434"/>
            <a:ext cx="3197008" cy="1133294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F1A8047-E599-760F-A7D5-6ED0618F75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Численный поиск матрицы перехода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89DA5FA-74AC-8C9E-0612-BA5DB9C442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sz="2400" dirty="0"/>
              <a:t>Перебор комбинаций матриц дрейфа, фокусировки, дефокусировки</a:t>
            </a:r>
          </a:p>
          <a:p>
            <a:endParaRPr lang="ru-RU" sz="2400" dirty="0"/>
          </a:p>
          <a:p>
            <a:pPr marL="0" indent="0">
              <a:buNone/>
            </a:pPr>
            <a:r>
              <a:rPr lang="ru-RU" sz="2400" dirty="0"/>
              <a:t>Комбинация</a:t>
            </a:r>
          </a:p>
          <a:p>
            <a:pPr marL="0" indent="0">
              <a:buNone/>
            </a:pPr>
            <a:endParaRPr lang="ru-RU" sz="2400" dirty="0">
              <a:effectLst/>
              <a:latin typeface="Times New Roman" panose="02020603050405020304" pitchFamily="18" charset="0"/>
              <a:ea typeface="Aptos" panose="020B0004020202020204" pitchFamily="34" charset="0"/>
            </a:endParaRPr>
          </a:p>
        </p:txBody>
      </p:sp>
      <p:sp>
        <p:nvSpPr>
          <p:cNvPr id="4" name="Овал 3">
            <a:extLst>
              <a:ext uri="{FF2B5EF4-FFF2-40B4-BE49-F238E27FC236}">
                <a16:creationId xmlns:a16="http://schemas.microsoft.com/office/drawing/2014/main" id="{216545AB-CFBD-4DBA-1B78-E8CA26047CE6}"/>
              </a:ext>
            </a:extLst>
          </p:cNvPr>
          <p:cNvSpPr/>
          <p:nvPr/>
        </p:nvSpPr>
        <p:spPr>
          <a:xfrm>
            <a:off x="710513" y="3484991"/>
            <a:ext cx="2835876" cy="2835876"/>
          </a:xfrm>
          <a:prstGeom prst="ellipse">
            <a:avLst/>
          </a:prstGeom>
          <a:solidFill>
            <a:schemeClr val="bg1"/>
          </a:solidFill>
          <a:ln w="762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6" name="Прямая со стрелкой 5">
            <a:extLst>
              <a:ext uri="{FF2B5EF4-FFF2-40B4-BE49-F238E27FC236}">
                <a16:creationId xmlns:a16="http://schemas.microsoft.com/office/drawing/2014/main" id="{F133647C-F0C1-F67E-76D6-5BFEFD008EA8}"/>
              </a:ext>
            </a:extLst>
          </p:cNvPr>
          <p:cNvCxnSpPr/>
          <p:nvPr/>
        </p:nvCxnSpPr>
        <p:spPr>
          <a:xfrm flipH="1">
            <a:off x="2514600" y="3484991"/>
            <a:ext cx="531341" cy="0"/>
          </a:xfrm>
          <a:prstGeom prst="straightConnector1">
            <a:avLst/>
          </a:prstGeom>
          <a:ln w="762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Прямая со стрелкой 6">
            <a:extLst>
              <a:ext uri="{FF2B5EF4-FFF2-40B4-BE49-F238E27FC236}">
                <a16:creationId xmlns:a16="http://schemas.microsoft.com/office/drawing/2014/main" id="{292F0E84-A565-4E63-BBEF-9D3BED2ABDDE}"/>
              </a:ext>
            </a:extLst>
          </p:cNvPr>
          <p:cNvCxnSpPr/>
          <p:nvPr/>
        </p:nvCxnSpPr>
        <p:spPr>
          <a:xfrm flipH="1">
            <a:off x="3748217" y="3461820"/>
            <a:ext cx="531341" cy="0"/>
          </a:xfrm>
          <a:prstGeom prst="straightConnector1">
            <a:avLst/>
          </a:prstGeom>
          <a:ln w="762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Прямая со стрелкой 7">
            <a:extLst>
              <a:ext uri="{FF2B5EF4-FFF2-40B4-BE49-F238E27FC236}">
                <a16:creationId xmlns:a16="http://schemas.microsoft.com/office/drawing/2014/main" id="{6E10CBB6-16E9-ABEF-5BCC-0B04B415C49E}"/>
              </a:ext>
            </a:extLst>
          </p:cNvPr>
          <p:cNvCxnSpPr/>
          <p:nvPr/>
        </p:nvCxnSpPr>
        <p:spPr>
          <a:xfrm flipH="1">
            <a:off x="4971535" y="3458218"/>
            <a:ext cx="531341" cy="0"/>
          </a:xfrm>
          <a:prstGeom prst="straightConnector1">
            <a:avLst/>
          </a:prstGeom>
          <a:ln w="762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Прямая со стрелкой 8">
            <a:extLst>
              <a:ext uri="{FF2B5EF4-FFF2-40B4-BE49-F238E27FC236}">
                <a16:creationId xmlns:a16="http://schemas.microsoft.com/office/drawing/2014/main" id="{B4D11800-2199-D572-C90C-B1D039BA16A9}"/>
              </a:ext>
            </a:extLst>
          </p:cNvPr>
          <p:cNvCxnSpPr/>
          <p:nvPr/>
        </p:nvCxnSpPr>
        <p:spPr>
          <a:xfrm flipH="1">
            <a:off x="6268994" y="3456930"/>
            <a:ext cx="531341" cy="0"/>
          </a:xfrm>
          <a:prstGeom prst="straightConnector1">
            <a:avLst/>
          </a:prstGeom>
          <a:ln w="762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Прямая со стрелкой 9">
            <a:extLst>
              <a:ext uri="{FF2B5EF4-FFF2-40B4-BE49-F238E27FC236}">
                <a16:creationId xmlns:a16="http://schemas.microsoft.com/office/drawing/2014/main" id="{6C0E68F0-7DAC-EDC0-C536-23496AE8E23C}"/>
              </a:ext>
            </a:extLst>
          </p:cNvPr>
          <p:cNvCxnSpPr/>
          <p:nvPr/>
        </p:nvCxnSpPr>
        <p:spPr>
          <a:xfrm flipH="1">
            <a:off x="7597346" y="3429000"/>
            <a:ext cx="531341" cy="0"/>
          </a:xfrm>
          <a:prstGeom prst="straightConnector1">
            <a:avLst/>
          </a:prstGeom>
          <a:ln w="762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C1C35006-9138-CD9C-14F6-9E4244FBB2AA}"/>
              </a:ext>
            </a:extLst>
          </p:cNvPr>
          <p:cNvSpPr txBox="1"/>
          <p:nvPr/>
        </p:nvSpPr>
        <p:spPr>
          <a:xfrm>
            <a:off x="8141665" y="3244334"/>
            <a:ext cx="8787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Дрейф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D3D68D1-5684-A3B4-F48F-25A00373E9C4}"/>
              </a:ext>
            </a:extLst>
          </p:cNvPr>
          <p:cNvSpPr txBox="1"/>
          <p:nvPr/>
        </p:nvSpPr>
        <p:spPr>
          <a:xfrm>
            <a:off x="3564436" y="4699636"/>
            <a:ext cx="387688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1" dirty="0"/>
              <a:t>Проверка X:</a:t>
            </a:r>
          </a:p>
          <a:p>
            <a:r>
              <a:rPr lang="ru-RU" dirty="0"/>
              <a:t>Получено:</a:t>
            </a:r>
          </a:p>
          <a:p>
            <a:r>
              <a:rPr lang="ru-RU" dirty="0"/>
              <a:t>[ 1.25000000e-01 -2.43046998e-11]</a:t>
            </a:r>
          </a:p>
          <a:p>
            <a:r>
              <a:rPr lang="ru-RU" dirty="0"/>
              <a:t> [-2.43047139e-11  8.00000000e+00]</a:t>
            </a:r>
          </a:p>
          <a:p>
            <a:r>
              <a:rPr lang="ru-RU" b="1" dirty="0"/>
              <a:t>Ожидалось:</a:t>
            </a:r>
          </a:p>
          <a:p>
            <a:r>
              <a:rPr lang="ru-RU" dirty="0"/>
              <a:t>[0.125 0.   ]</a:t>
            </a:r>
          </a:p>
          <a:p>
            <a:r>
              <a:rPr lang="ru-RU" dirty="0"/>
              <a:t> [0.    8.   ]</a:t>
            </a:r>
          </a:p>
          <a:p>
            <a:endParaRPr lang="ru-RU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22D239D-4D64-82EC-0E71-443E3FB593A7}"/>
              </a:ext>
            </a:extLst>
          </p:cNvPr>
          <p:cNvSpPr txBox="1"/>
          <p:nvPr/>
        </p:nvSpPr>
        <p:spPr>
          <a:xfrm>
            <a:off x="7604607" y="4699636"/>
            <a:ext cx="3876880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1" dirty="0"/>
              <a:t>Проверка Y:</a:t>
            </a:r>
          </a:p>
          <a:p>
            <a:r>
              <a:rPr lang="ru-RU" dirty="0"/>
              <a:t>Получено:</a:t>
            </a:r>
          </a:p>
          <a:p>
            <a:r>
              <a:rPr lang="ru-RU" dirty="0"/>
              <a:t>[ 2.50000000e-01 -1.99005972e-11]</a:t>
            </a:r>
          </a:p>
          <a:p>
            <a:r>
              <a:rPr lang="ru-RU" dirty="0"/>
              <a:t> [-1.99005932e-11  4.00000000e+00]</a:t>
            </a:r>
          </a:p>
          <a:p>
            <a:r>
              <a:rPr lang="ru-RU" b="1" dirty="0"/>
              <a:t>Ожидалось:</a:t>
            </a:r>
          </a:p>
          <a:p>
            <a:r>
              <a:rPr lang="ru-RU" dirty="0"/>
              <a:t>[[0.25 0.  ]</a:t>
            </a:r>
          </a:p>
          <a:p>
            <a:r>
              <a:rPr lang="ru-RU" dirty="0"/>
              <a:t> [0.   4.  ]]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C501B80-4A98-AC62-5791-2F83AFD3AE8A}"/>
              </a:ext>
            </a:extLst>
          </p:cNvPr>
          <p:cNvSpPr txBox="1"/>
          <p:nvPr/>
        </p:nvSpPr>
        <p:spPr>
          <a:xfrm>
            <a:off x="5446552" y="3257761"/>
            <a:ext cx="8787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Дрейф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391FC7A-F26D-52BA-8ACA-AB6D9BB963F8}"/>
              </a:ext>
            </a:extLst>
          </p:cNvPr>
          <p:cNvSpPr txBox="1"/>
          <p:nvPr/>
        </p:nvSpPr>
        <p:spPr>
          <a:xfrm>
            <a:off x="2964647" y="3300324"/>
            <a:ext cx="8787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Дрейф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1C2B99D-F7C1-5B75-B4DC-7CBD5D1415DD}"/>
              </a:ext>
            </a:extLst>
          </p:cNvPr>
          <p:cNvSpPr txBox="1"/>
          <p:nvPr/>
        </p:nvSpPr>
        <p:spPr>
          <a:xfrm>
            <a:off x="8033061" y="3031739"/>
            <a:ext cx="119429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d</a:t>
            </a:r>
            <a:r>
              <a:rPr lang="ru-RU" dirty="0"/>
              <a:t> = -0.24м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6DB3508-A5EF-35C4-83F0-738ABD7F1A9F}"/>
              </a:ext>
            </a:extLst>
          </p:cNvPr>
          <p:cNvSpPr txBox="1"/>
          <p:nvPr/>
        </p:nvSpPr>
        <p:spPr>
          <a:xfrm>
            <a:off x="6784840" y="3272264"/>
            <a:ext cx="8194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Фокус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0B6E2C5-9B84-582E-A416-B894CA26C5F7}"/>
              </a:ext>
            </a:extLst>
          </p:cNvPr>
          <p:cNvSpPr txBox="1"/>
          <p:nvPr/>
        </p:nvSpPr>
        <p:spPr>
          <a:xfrm>
            <a:off x="4190953" y="3279986"/>
            <a:ext cx="8194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Фокус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1D1FEF8-2017-AC41-CB6E-A93E4E03E55F}"/>
              </a:ext>
            </a:extLst>
          </p:cNvPr>
          <p:cNvSpPr txBox="1"/>
          <p:nvPr/>
        </p:nvSpPr>
        <p:spPr>
          <a:xfrm>
            <a:off x="2859405" y="3079958"/>
            <a:ext cx="12835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d</a:t>
            </a:r>
            <a:r>
              <a:rPr lang="ru-RU" dirty="0"/>
              <a:t> = -1.57м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E80820A-EE6D-B5B6-F347-5F687259F560}"/>
              </a:ext>
            </a:extLst>
          </p:cNvPr>
          <p:cNvSpPr txBox="1"/>
          <p:nvPr/>
        </p:nvSpPr>
        <p:spPr>
          <a:xfrm>
            <a:off x="4155883" y="3056662"/>
            <a:ext cx="11629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f = 9.96м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36200EEC-B6DC-037E-1044-9E5E57E610BA}"/>
              </a:ext>
            </a:extLst>
          </p:cNvPr>
          <p:cNvSpPr txBox="1"/>
          <p:nvPr/>
        </p:nvSpPr>
        <p:spPr>
          <a:xfrm>
            <a:off x="5384927" y="3053660"/>
            <a:ext cx="11629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d</a:t>
            </a:r>
            <a:r>
              <a:rPr lang="ru-RU" dirty="0"/>
              <a:t> = 1.49м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A98A6EFA-AAAF-49BC-56E2-16103B8B6D5F}"/>
              </a:ext>
            </a:extLst>
          </p:cNvPr>
          <p:cNvSpPr txBox="1"/>
          <p:nvPr/>
        </p:nvSpPr>
        <p:spPr>
          <a:xfrm>
            <a:off x="6740530" y="3020130"/>
            <a:ext cx="109983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f = 0.38м</a:t>
            </a:r>
          </a:p>
        </p:txBody>
      </p:sp>
      <p:pic>
        <p:nvPicPr>
          <p:cNvPr id="32" name="Рисунок 31">
            <a:extLst>
              <a:ext uri="{FF2B5EF4-FFF2-40B4-BE49-F238E27FC236}">
                <a16:creationId xmlns:a16="http://schemas.microsoft.com/office/drawing/2014/main" id="{766A135B-1748-D740-56EC-DC9D02B52A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95837" y="2625890"/>
            <a:ext cx="609685" cy="438211"/>
          </a:xfrm>
          <a:prstGeom prst="rect">
            <a:avLst/>
          </a:prstGeom>
        </p:spPr>
      </p:pic>
      <p:pic>
        <p:nvPicPr>
          <p:cNvPr id="33" name="Рисунок 32">
            <a:extLst>
              <a:ext uri="{FF2B5EF4-FFF2-40B4-BE49-F238E27FC236}">
                <a16:creationId xmlns:a16="http://schemas.microsoft.com/office/drawing/2014/main" id="{726ED1D1-F1F9-BE16-C37E-4AEF788670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5285" y="2587749"/>
            <a:ext cx="609685" cy="438211"/>
          </a:xfrm>
          <a:prstGeom prst="rect">
            <a:avLst/>
          </a:prstGeom>
        </p:spPr>
      </p:pic>
      <p:pic>
        <p:nvPicPr>
          <p:cNvPr id="35" name="Рисунок 34">
            <a:extLst>
              <a:ext uri="{FF2B5EF4-FFF2-40B4-BE49-F238E27FC236}">
                <a16:creationId xmlns:a16="http://schemas.microsoft.com/office/drawing/2014/main" id="{B840DED4-6F81-293F-66C9-2BD4A783C63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27092" y="2629258"/>
            <a:ext cx="362001" cy="447737"/>
          </a:xfrm>
          <a:prstGeom prst="rect">
            <a:avLst/>
          </a:prstGeom>
        </p:spPr>
      </p:pic>
      <p:pic>
        <p:nvPicPr>
          <p:cNvPr id="36" name="Рисунок 35">
            <a:extLst>
              <a:ext uri="{FF2B5EF4-FFF2-40B4-BE49-F238E27FC236}">
                <a16:creationId xmlns:a16="http://schemas.microsoft.com/office/drawing/2014/main" id="{80F16E5F-1B02-6456-1D8F-F4DD84C0099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87745" y="2616364"/>
            <a:ext cx="362001" cy="447737"/>
          </a:xfrm>
          <a:prstGeom prst="rect">
            <a:avLst/>
          </a:prstGeom>
        </p:spPr>
      </p:pic>
      <p:pic>
        <p:nvPicPr>
          <p:cNvPr id="37" name="Рисунок 36">
            <a:extLst>
              <a:ext uri="{FF2B5EF4-FFF2-40B4-BE49-F238E27FC236}">
                <a16:creationId xmlns:a16="http://schemas.microsoft.com/office/drawing/2014/main" id="{04455EB8-8085-3390-0289-D18005D93AD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31146" y="2591025"/>
            <a:ext cx="362001" cy="4477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58333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1CE5338-6685-8747-01EB-794E78B1E0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Поиск числа периодов фокусировки по фазовым диаграммам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950A2DE-D272-241A-1C57-03616C8F76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13121914-2B45-A1DF-DB49-F1054D7C81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514" y="1690688"/>
            <a:ext cx="2842260" cy="2825750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563D5DCF-A4ED-B573-25A2-6DC200B433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32774" y="1690688"/>
            <a:ext cx="2813050" cy="2813050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B6E51F43-09B2-6717-4D73-40AFAFC0978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3510" y="1754658"/>
            <a:ext cx="2559387" cy="2538661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34AEDB74-FB05-E0F1-79A2-252080458D7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52897" y="1825625"/>
            <a:ext cx="2300903" cy="2314924"/>
          </a:xfrm>
          <a:prstGeom prst="rect">
            <a:avLst/>
          </a:prstGeom>
        </p:spPr>
      </p:pic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580F7F5F-46D7-58FD-7E30-8195F0787110}"/>
              </a:ext>
            </a:extLst>
          </p:cNvPr>
          <p:cNvSpPr/>
          <p:nvPr/>
        </p:nvSpPr>
        <p:spPr>
          <a:xfrm>
            <a:off x="6279173" y="2809097"/>
            <a:ext cx="334010" cy="34798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15000"/>
              </a:lnSpc>
              <a:spcAft>
                <a:spcPts val="800"/>
              </a:spcAft>
            </a:pPr>
            <a:r>
              <a:rPr lang="en-US" sz="12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y’</a:t>
            </a:r>
            <a:endParaRPr lang="ru-RU" sz="1200" kern="100" dirty="0">
              <a:effectLst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BE6EF0F7-9E8F-D2BB-60E7-70637A71CBFC}"/>
              </a:ext>
            </a:extLst>
          </p:cNvPr>
          <p:cNvSpPr/>
          <p:nvPr/>
        </p:nvSpPr>
        <p:spPr>
          <a:xfrm>
            <a:off x="8823881" y="2809097"/>
            <a:ext cx="334010" cy="34798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15000"/>
              </a:lnSpc>
              <a:spcAft>
                <a:spcPts val="800"/>
              </a:spcAft>
            </a:pPr>
            <a:r>
              <a:rPr lang="en-US" sz="1200" kern="10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y’</a:t>
            </a:r>
            <a:endParaRPr lang="ru-RU" sz="1200" kern="100">
              <a:effectLst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FA33AE0B-7796-1469-B62E-C3E4424F0511}"/>
              </a:ext>
            </a:extLst>
          </p:cNvPr>
          <p:cNvSpPr/>
          <p:nvPr/>
        </p:nvSpPr>
        <p:spPr>
          <a:xfrm>
            <a:off x="7612548" y="4254266"/>
            <a:ext cx="321310" cy="34798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15000"/>
              </a:lnSpc>
              <a:spcAft>
                <a:spcPts val="800"/>
              </a:spcAft>
            </a:pPr>
            <a:r>
              <a:rPr lang="en-US" sz="1200" kern="10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y</a:t>
            </a:r>
            <a:endParaRPr lang="ru-RU" sz="1200" kern="100">
              <a:effectLst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algn="ctr">
              <a:lnSpc>
                <a:spcPct val="115000"/>
              </a:lnSpc>
              <a:spcAft>
                <a:spcPts val="800"/>
              </a:spcAft>
            </a:pPr>
            <a:r>
              <a:rPr lang="ru-RU" sz="1200" kern="10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</a:p>
        </p:txBody>
      </p:sp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76C2DC23-B9EE-1D7D-CE4E-6D9CBF963161}"/>
              </a:ext>
            </a:extLst>
          </p:cNvPr>
          <p:cNvSpPr/>
          <p:nvPr/>
        </p:nvSpPr>
        <p:spPr>
          <a:xfrm>
            <a:off x="10091588" y="4054501"/>
            <a:ext cx="334010" cy="34798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15000"/>
              </a:lnSpc>
              <a:spcAft>
                <a:spcPts val="800"/>
              </a:spcAft>
            </a:pPr>
            <a:r>
              <a:rPr lang="en-US" sz="12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y</a:t>
            </a:r>
            <a:endParaRPr lang="ru-RU" sz="1200" kern="100" dirty="0">
              <a:effectLst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9" name="Прямоугольник 18">
            <a:extLst>
              <a:ext uri="{FF2B5EF4-FFF2-40B4-BE49-F238E27FC236}">
                <a16:creationId xmlns:a16="http://schemas.microsoft.com/office/drawing/2014/main" id="{7E4AF522-D6E1-B725-F831-F64686D42578}"/>
              </a:ext>
            </a:extLst>
          </p:cNvPr>
          <p:cNvSpPr/>
          <p:nvPr/>
        </p:nvSpPr>
        <p:spPr>
          <a:xfrm>
            <a:off x="2698433" y="2923223"/>
            <a:ext cx="334010" cy="34798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15000"/>
              </a:lnSpc>
              <a:spcAft>
                <a:spcPts val="800"/>
              </a:spcAft>
            </a:pPr>
            <a:r>
              <a:rPr lang="en-US" sz="1200" kern="10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x’</a:t>
            </a:r>
            <a:endParaRPr lang="ru-RU" sz="1200" kern="100">
              <a:effectLst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0" name="Прямоугольник 19">
            <a:extLst>
              <a:ext uri="{FF2B5EF4-FFF2-40B4-BE49-F238E27FC236}">
                <a16:creationId xmlns:a16="http://schemas.microsoft.com/office/drawing/2014/main" id="{840CA99B-4C14-2905-B7FC-2EB290A70A13}"/>
              </a:ext>
            </a:extLst>
          </p:cNvPr>
          <p:cNvSpPr/>
          <p:nvPr/>
        </p:nvSpPr>
        <p:spPr>
          <a:xfrm>
            <a:off x="-76491" y="2923223"/>
            <a:ext cx="334010" cy="34798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15000"/>
              </a:lnSpc>
              <a:spcAft>
                <a:spcPts val="800"/>
              </a:spcAft>
            </a:pPr>
            <a:r>
              <a:rPr lang="en-US" sz="1200" kern="10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x’</a:t>
            </a:r>
            <a:endParaRPr lang="ru-RU" sz="1200" kern="100">
              <a:effectLst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F3DA788-022A-C0F8-BD10-433FC30C2043}"/>
              </a:ext>
            </a:extLst>
          </p:cNvPr>
          <p:cNvSpPr txBox="1"/>
          <p:nvPr/>
        </p:nvSpPr>
        <p:spPr>
          <a:xfrm>
            <a:off x="378169" y="5262552"/>
            <a:ext cx="955323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800" dirty="0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Полученные итоговые коэффициенты по координатам (изменение </a:t>
            </a:r>
            <a:r>
              <a:rPr lang="ru-RU" sz="18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эммитанса</a:t>
            </a:r>
            <a:r>
              <a:rPr lang="ru-RU" sz="1800" dirty="0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 не учитывалось)</a:t>
            </a:r>
          </a:p>
          <a:p>
            <a:r>
              <a:rPr lang="en-US" sz="1800" dirty="0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beta</a:t>
            </a:r>
            <a:r>
              <a:rPr lang="ru-RU" sz="1800" dirty="0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_</a:t>
            </a:r>
            <a:r>
              <a:rPr lang="en-US" sz="1800" dirty="0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x</a:t>
            </a:r>
            <a:r>
              <a:rPr lang="ru-RU" sz="1800" dirty="0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 = 7,989 </a:t>
            </a:r>
            <a:r>
              <a:rPr lang="en-US" sz="1800" dirty="0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beta</a:t>
            </a:r>
            <a:r>
              <a:rPr lang="ru-RU" sz="1800" dirty="0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_</a:t>
            </a:r>
            <a:r>
              <a:rPr lang="en-US" sz="1800" dirty="0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y</a:t>
            </a:r>
            <a:r>
              <a:rPr lang="ru-RU" sz="1800" dirty="0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=3,80; </a:t>
            </a:r>
            <a:r>
              <a:rPr lang="en-US" sz="1800" dirty="0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alpha</a:t>
            </a:r>
            <a:r>
              <a:rPr lang="ru-RU" sz="1800" dirty="0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_</a:t>
            </a:r>
            <a:r>
              <a:rPr lang="en-US" sz="1800" dirty="0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x</a:t>
            </a:r>
            <a:r>
              <a:rPr lang="ru-RU" sz="1800" dirty="0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 = 10</a:t>
            </a:r>
            <a:r>
              <a:rPr lang="en-US" sz="1800" dirty="0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e</a:t>
            </a:r>
            <a:r>
              <a:rPr lang="ru-RU" sz="1800" dirty="0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-4 </a:t>
            </a:r>
            <a:r>
              <a:rPr lang="en-US" sz="1800" dirty="0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alpha</a:t>
            </a:r>
            <a:r>
              <a:rPr lang="ru-RU" sz="1800" dirty="0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_</a:t>
            </a:r>
            <a:r>
              <a:rPr lang="en-US" sz="1800" dirty="0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y</a:t>
            </a:r>
            <a:r>
              <a:rPr lang="ru-RU" sz="1800" dirty="0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 = 10</a:t>
            </a:r>
            <a:r>
              <a:rPr lang="en-US" sz="1800" dirty="0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e</a:t>
            </a:r>
            <a:r>
              <a:rPr lang="ru-RU" sz="1800" dirty="0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-5</a:t>
            </a:r>
            <a:endParaRPr lang="ru-RU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29B760D-2481-F25D-BF64-065B96DEF01C}"/>
              </a:ext>
            </a:extLst>
          </p:cNvPr>
          <p:cNvSpPr txBox="1"/>
          <p:nvPr/>
        </p:nvSpPr>
        <p:spPr>
          <a:xfrm>
            <a:off x="424524" y="4602246"/>
            <a:ext cx="106879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Итог 300 периодов фокусировки </a:t>
            </a:r>
            <a:r>
              <a:rPr lang="en-US" dirty="0"/>
              <a:t>FODO</a:t>
            </a:r>
            <a:r>
              <a:rPr lang="ru-RU" dirty="0"/>
              <a:t> необходимо для получения требуемых параметров пучка</a:t>
            </a:r>
          </a:p>
        </p:txBody>
      </p:sp>
    </p:spTree>
    <p:extLst>
      <p:ext uri="{BB962C8B-B14F-4D97-AF65-F5344CB8AC3E}">
        <p14:creationId xmlns:p14="http://schemas.microsoft.com/office/powerpoint/2010/main" val="5072116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D3A9348-1444-33AA-9BCE-0480A32BFC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Дополнительные источники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ADEED54-59F9-E208-C429-645F70EF8E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ru-RU" sz="1800" dirty="0"/>
              <a:t>Попков С. С., </a:t>
            </a:r>
            <a:r>
              <a:rPr lang="ru-RU" sz="1800" dirty="0" err="1"/>
              <a:t>Сеннер</a:t>
            </a:r>
            <a:r>
              <a:rPr lang="ru-RU" sz="1800" dirty="0"/>
              <a:t> А. Е. Математическая модель для магнитооптической структуры ускорительного кольца в накопителе заряженных частиц // Системный анализ в науке и образовании. 2021. №4. URL: https://cyberleninka.ru/article/n/matematicheskaya-model-dlya-magnitoopticheskoy-struktury-uskoritelnogo-koltsa-v-nakopitele-zaryazhennyh-chastits (дата обращения: 08.03.2026).</a:t>
            </a:r>
          </a:p>
          <a:p>
            <a:pPr marL="342900" indent="-342900">
              <a:buFont typeface="+mj-lt"/>
              <a:buAutoNum type="arabicPeriod"/>
            </a:pPr>
            <a:r>
              <a:rPr lang="ru-RU" sz="1800" dirty="0"/>
              <a:t>Квадрупольные магниты // Physics42 : [сайт]. – URL: https://physics42.ru/tutorials/fizika-uskoriteley/kvadrupolnye-magnity/ (дата обращения: 08.03.2026).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800" dirty="0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Charged Particle Beam Emittance, Collider Luminosity, AD, Fermi National Accelerator Laboratory</a:t>
            </a:r>
            <a:endParaRPr lang="ru-RU" sz="1800" dirty="0"/>
          </a:p>
          <a:p>
            <a:pPr marL="342900" indent="-342900">
              <a:buFont typeface="+mj-lt"/>
              <a:buAutoNum type="arabicPeriod"/>
            </a:pPr>
            <a:endParaRPr lang="ru-RU" sz="1800" dirty="0"/>
          </a:p>
          <a:p>
            <a:pPr marL="342900" indent="-342900">
              <a:buFont typeface="+mj-lt"/>
              <a:buAutoNum type="arabicPeriod"/>
            </a:pPr>
            <a:endParaRPr lang="ru-RU" sz="1800" dirty="0"/>
          </a:p>
        </p:txBody>
      </p:sp>
    </p:spTree>
    <p:extLst>
      <p:ext uri="{BB962C8B-B14F-4D97-AF65-F5344CB8AC3E}">
        <p14:creationId xmlns:p14="http://schemas.microsoft.com/office/powerpoint/2010/main" val="66108890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283</Words>
  <Application>Microsoft Office PowerPoint</Application>
  <PresentationFormat>Широкоэкранный</PresentationFormat>
  <Paragraphs>48</Paragraphs>
  <Slides>7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7</vt:i4>
      </vt:variant>
    </vt:vector>
  </HeadingPairs>
  <TitlesOfParts>
    <vt:vector size="12" baseType="lpstr">
      <vt:lpstr>Aptos</vt:lpstr>
      <vt:lpstr>Aptos Display</vt:lpstr>
      <vt:lpstr>Arial</vt:lpstr>
      <vt:lpstr>Times New Roman</vt:lpstr>
      <vt:lpstr>Тема Office</vt:lpstr>
      <vt:lpstr>Моделирование пучка в ускорителе</vt:lpstr>
      <vt:lpstr>Что нужно было сделать с пучком?</vt:lpstr>
      <vt:lpstr>Условная конструкция инжектора</vt:lpstr>
      <vt:lpstr>Аналитический поиск матрицы перехода</vt:lpstr>
      <vt:lpstr>Численный поиск матрицы перехода</vt:lpstr>
      <vt:lpstr>Поиск числа периодов фокусировки по фазовым диаграммам</vt:lpstr>
      <vt:lpstr>Дополнительные источники</vt:lpstr>
    </vt:vector>
  </TitlesOfParts>
  <Company>LightKey.Store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Vova Kraplya</dc:creator>
  <cp:lastModifiedBy>Vova Kraplya</cp:lastModifiedBy>
  <cp:revision>2</cp:revision>
  <dcterms:created xsi:type="dcterms:W3CDTF">2026-03-08T07:08:52Z</dcterms:created>
  <dcterms:modified xsi:type="dcterms:W3CDTF">2026-03-08T07:15:47Z</dcterms:modified>
</cp:coreProperties>
</file>